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70" r:id="rId10"/>
    <p:sldId id="271" r:id="rId11"/>
    <p:sldId id="262" r:id="rId12"/>
    <p:sldId id="263" r:id="rId13"/>
    <p:sldId id="264" r:id="rId14"/>
    <p:sldId id="265" r:id="rId15"/>
    <p:sldId id="268" r:id="rId16"/>
    <p:sldId id="266" r:id="rId17"/>
    <p:sldId id="269" r:id="rId18"/>
    <p:sldId id="267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各位老师好，我们小组汇报的题目是“非遗手作数字展示与共创平台”。本周我们完成了团队组建、课题选定、竞品调研、需求分析和UML建模，下面从五个方面汇报。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这张表对照第一周要求。团队 6 人已组建完成，每人都有开发和测试任务。课题核心功能有 7 个，超过要求的 6 个。竞品调研、用例图、用例说明、活动图、顺序图、类图、状态图都已完成，需求报告和原始绘图文件已经整理好，准备提交。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课题选的是非遗手作数字展示与共创平台。它解决的是非遗传播受限、学习门槛高、定制对接难、爱好者作品没地方分享的问题。平台把展示、学习、定制、分享串成闭环，既有文化价值，也能覆盖完整的 Web 开发和 UML 建模工作量。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核心功能一共 7 个，超过要求的 6 个。前四项是高优先级：作品展示、教程学习、定制对接、用户分享。审核和社交互动是中优先级，数据概览是低优先级。5 周内优先保证高、中优先级共 6 项完整可用，低优先级做简化统计。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竞品调研了三类：非遗宣传网站、短视频平台、文创电商。它们要么只能看，要么内容碎片化，要么偏电商。我们的改进点是强化交互和共创，做结构化作品库、成套教程、标准化定制流程和用户作品分享。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初步技术选型方面，前端采用 Vue 3 配合 Element Plus 组件库和 Axios，后端用 Spring Boot 加 MyBatis-Plus，数据库选 MySQL 8.0，开发工具用 Git、Maven、Postman 和 IDEA，部署用 Nginx 加 Tomcat。这套技术栈成熟稳定、团队熟悉，适合课程项目，下周概要设计阶段还可以根据实际情况调整。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可行性评估从三个维度看：技术上，所选技术栈成熟、开源生态完善、团队有基础；经济上，全部用开源免费技术，开发部署成本低；操作上，5 周周期、6 人分工、核心功能按优先级迭代，节奏可控。主要风险是时间紧张、跨班协作和需求变更，我们分别用优先高优先级功能、固定沟通机制和迭代调整来应对。综合来看项目可行、风险可控。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需求分析部分，我们完成了需求分析报告，必选的用例图和用例说明，另外还做了两张活动图、两张顺序图、类图和状态图。所有图都是用绘图工具手工绘制，原始文件已经保留，可以随报告一起提交。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这是用例图。系统有三类参与者：管理员、匠人和普通用户。用例覆盖作品展示、教程学习、定制对接、用户分享、审核管理和数据统计，完整对应前面 7 个核心功能。图中用例与参与者关系为示意，后续可替换为小组实际绘制的用例图。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用例说明以“发起定制申请”为例。用户浏览作品后选择匠人，填写需求并提交，匠人查看回复，双方沟通确认后匠人处理。平台会生成定制记录并更新状态。这样把原来私下的定制沟通变成平台规范化流程。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活动图做了两张：定制流程和发布审核流程，主要展示业务步骤和判断分支。顺序图也做了两张：发起定制和发布作品互动，主要展示前端、后端、数据库、管理员和匠人之间的消息传递顺序。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活动图做了两张：定制流程和发布审核流程，主要展示业务步骤和判断分支。顺序图也做了两张：发起定制和发布作品互动，主要展示前端、后端、数据库、管理员和匠人之间的消息传递顺序。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类图定义了用户、匠人、作品、教程、定制申请、用户作品、评论、点赞收藏和审核记录这些核心数据对象。状态图重点描述内容审核和定制申请的状态流转，为后面数据库设计和后端开发打基础。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类图定义了用户、匠人、作品、教程、定制申请、用户作品、评论、点赞收藏和审核记录这些核心数据对象。状态图重点描述内容审核和定制申请的状态流转，为后面数据库设计和后端开发打基础。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本周我们完成了团队组建和分工，每人都有开发和测试任务。课题核心功能 7 个，竞品调研已写入需求报告。需求分析完成了用例图、用例说明、两张活动图、两张顺序图、类图和状态图，原始绘图文件已保留。下周进入概要设计和基础开发，优先做作品展示和教程模块。我的汇报到此结束，谢谢老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42969">
            <a:off x="889040" y="1492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2082800" y="1295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第一周工作汇报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685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非遗手作数字展示与共创平台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3251200"/>
            <a:ext cx="685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团队组建、竞品调研与需求分析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889013" y="40322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4318000"/>
            <a:ext cx="673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</a:t>
            </a:r>
            <a:r>
              <a:rPr lang="en-US" sz="1400" b="0" i="0" u="none" strike="noStrike" dirty="0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软件课程设计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小组：</a:t>
            </a:r>
            <a:r>
              <a:rPr 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第8组</a:t>
            </a:r>
            <a:endParaRPr lang="en-US" sz="1400" b="0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成员：</a:t>
            </a:r>
            <a:r>
              <a:rPr lang="zh-CN" alt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臧博文</a:t>
            </a:r>
            <a:r>
              <a:rPr 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田浩池</a:t>
            </a:r>
            <a:r>
              <a:rPr 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徐锦泽</a:t>
            </a:r>
            <a:r>
              <a:rPr 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杨井源</a:t>
            </a:r>
            <a:r>
              <a:rPr 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张洋</a:t>
            </a:r>
            <a:endParaRPr lang="en-US" sz="1400" b="0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4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葛子实</a:t>
            </a:r>
            <a:endParaRPr lang="en-US" sz="1400" b="0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D8DDE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</a:t>
            </a:r>
            <a:r>
              <a:rPr lang="en-US" sz="14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</a:t>
            </a:r>
            <a:r>
              <a:rPr lang="en-US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</a:t>
            </a:r>
            <a:r>
              <a:rPr lang="en-US" sz="14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月11日</a:t>
            </a:r>
            <a:endParaRPr lang="en-US" sz="1400" b="0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1089">
            <a:off x="7747010" y="6032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9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-11089">
            <a:off x="7747010" y="54800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9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 l="33" r="33"/>
          <a:stretch>
            <a:fillRect/>
          </a:stretch>
        </p:blipFill>
        <p:spPr>
          <a:xfrm>
            <a:off x="7810500" y="698500"/>
            <a:ext cx="3746500" cy="4686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863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第一周要求与完成情况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0" y="736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 7/7 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" name="Connector 6"/>
          <p:cNvCxnSpPr/>
          <p:nvPr/>
        </p:nvCxnSpPr>
        <p:spPr>
          <a:xfrm rot="-4297">
            <a:off x="1016004" y="235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1778000"/>
          <a:ext cx="10160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72000"/>
                <a:gridCol w="5588000"/>
              </a:tblGrid>
              <a:tr h="584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第一周要求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团队组建：4-6 人，可跨班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已完成，共 6 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每人承担开发 + 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已完成分工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自选课题，新颖有价值，核心功能 ≥ 6 个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已选定，核心功能 7 个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竞品调研分析写入需求报告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已完成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需求分析：用例图 + 用例说明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已完成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顺序图、活动图等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已完成 2 张活动图、2 张顺序图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提交需求</a:t>
                      </a:r>
                      <a:r>
                        <a:rPr lang="zh-CN" alt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分析</a:t>
                      </a: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报告 + </a:t>
                      </a:r>
                      <a:r>
                        <a:rPr lang="zh-CN" alt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小组周总结</a:t>
                      </a:r>
                      <a:r>
                        <a:rPr lang="en-US" altLang="zh-CN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+PPT</a:t>
                      </a:r>
                      <a:endParaRPr lang="en-US" altLang="zh-CN" sz="1300" b="0" i="0" u="none" strike="noStrike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已整理提交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8"/>
          <p:cNvCxnSpPr/>
          <p:nvPr/>
        </p:nvCxnSpPr>
        <p:spPr>
          <a:xfrm rot="-4297">
            <a:off x="1016004" y="608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课题：非遗手作数字展示与共创平台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选题背景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549">
            <a:off x="1016009" y="2228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350000" y="177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选题价值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6350009" y="2228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5389582">
            <a:off x="3848100" y="3867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463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 dirty="0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500" b="0" i="0" u="none" strike="noStrike" dirty="0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 dirty="0" err="1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非遗传承人老龄化，传播渠道有限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016000" y="3352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线下展览地域受限，大众参与门槛高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241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匠人缺少线上定制对接渠道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130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爱好者作品缺少分享交流阵地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463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 dirty="0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500" b="0" i="0" u="none" strike="noStrike" dirty="0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 dirty="0" err="1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文化价值：推动非遗手作数字化传播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350000" y="3352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社会价值：连接传承人、匠人、爱好者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241800"/>
            <a:ext cx="4826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教学价值：覆盖 Web 开发、数据库、UML、测试完整流程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52578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工作量：核心功能 7 个，满足课程要求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核心功能点：7 个，高优先级 6 个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高优先级（4 项）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114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590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非遗作品展示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3114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27500" y="21590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手作教程发布与学习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23114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31000" y="21590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手作定制对接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6500" y="23114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334500" y="21590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用户作品分享共创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3117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3327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中优先级（2 项）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9878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8354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内容审核管理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9500" y="39878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38354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用户社交互动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479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003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低优先级（1 项）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56388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486400"/>
            <a:ext cx="254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平台数据概览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55626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周内优先保证高、中优先级共 6 项完整可用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竞品调研：从“只看”走向“参与共创”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778000"/>
          <a:ext cx="10160000" cy="241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2413000"/>
                <a:gridCol w="3048000"/>
                <a:gridCol w="2794000"/>
              </a:tblGrid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竞品类型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优势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本平台改进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非遗宣传网站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资源权威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缺教程、定制、投稿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增加教程、定制、分享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短视频平台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流量大、直观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碎片化、无规范定制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结构化作品库和教程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文创电商平台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可售卖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缺免费教学、文化弱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弱化电商，突出共创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6482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14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3848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本平台定位：文化展示 + 技艺教学 + 轻量定制 + 用户共创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初步技术选型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8890000" y="711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 · 开源技术栈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8796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810000"/>
                <a:gridCol w="4826000"/>
              </a:tblGrid>
              <a:tr h="596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选型说明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Vue 3 + Element Plus + Axios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组件丰富、上手快、适合课程项目快速开发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Spring Boot + MyBatis-Plus + JWT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生态成熟、团队熟悉、权限与认证管理便捷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MySQL 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关系型数据库、支持复杂查询、开源免费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+ Maven + Postman + IDEA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版本管理、依赖管理、接口测试与开发环境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部署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Nginx + Tomcat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6566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反向代理、静态资源分离、后端服务托管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6"/>
          <p:cNvCxnSpPr/>
          <p:nvPr/>
        </p:nvCxnSpPr>
        <p:spPr>
          <a:xfrm rot="-4297">
            <a:off x="1016004" y="5683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8674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以上为初步选型，下周概要设计阶段可根据实际情况调整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可行性评估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046">
            <a:off x="1016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2860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73200" y="2235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73200" y="2590800"/>
            <a:ext cx="444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所选技术栈成熟稳定，开源生态完善，团队成员具备 Web 开发基础，可快速上手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528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73200" y="3302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经济可行性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73200" y="3657600"/>
            <a:ext cx="444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0" i="0" u="none" strike="noStrike" dirty="0" err="1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全部采用开源免费技术，无商业授权费用，开发与部署成本低，适合课程项目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16000" y="44196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73200" y="43688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操作可行性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73200" y="4724400"/>
            <a:ext cx="444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周开发周期可控，6 人分工明确，核心功能按优先级迭代，节奏可把握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风险与应对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046">
            <a:off x="6350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2286000"/>
            <a:ext cx="4826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53200" y="2387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时间紧张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53200" y="2692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优先保证高优先级功能完整可用，低优先级做简化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251200"/>
            <a:ext cx="4826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53200" y="33528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</a:t>
            </a:r>
            <a:r>
              <a:rPr lang="zh-CN" altLang="en-US" sz="1300" b="1" i="0" u="none" strike="noStrike" dirty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域</a:t>
            </a:r>
            <a:r>
              <a:rPr lang="en-US" sz="13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553200" y="3657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固定周会同步进度，Git</a:t>
            </a:r>
            <a:r>
              <a:rPr lang="en-US" sz="1200" b="0" i="0" u="none" strike="noStrike" dirty="0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 dirty="0" err="1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分支管理保证代码合并有序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350000" y="4216400"/>
            <a:ext cx="4826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53200" y="4318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需求变更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6553200" y="46228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迭代调整，保留扩展接口，核心数据模型预留弹性</a:t>
            </a:r>
            <a:endParaRPr lang="en-US" sz="1100" dirty="0"/>
          </a:p>
        </p:txBody>
      </p:sp>
      <p:cxnSp>
        <p:nvCxnSpPr>
          <p:cNvPr id="26" name="Connector 26"/>
          <p:cNvCxnSpPr/>
          <p:nvPr/>
        </p:nvCxnSpPr>
        <p:spPr>
          <a:xfrm rot="-4297">
            <a:off x="1016004" y="542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6388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综合评估：项目在技术、经济、操作层面均具备可行性，风险可控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需求分析成果总览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1930400"/>
            <a:ext cx="279400" cy="279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54200" y="1803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需求分析报告（文档模板 1）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27432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54200" y="2616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用例图 + 用例说明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3556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54200" y="342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 2 张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7000" y="43688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54200" y="42418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顺序图 2 张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1930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61200" y="1803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27432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61200" y="2616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状态图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35560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61200" y="342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原始绘图文件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5372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工具说明：</a:t>
            </a:r>
            <a:r>
              <a:rPr lang="en-US" sz="15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使用绘图工具手工绘制，非 AI 生成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049000" y="6400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用例图：三类参与者，覆盖核心业务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8" name="AutoShape 6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lang="en-US" sz="1100" dirty="0"/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5064" y="1384300"/>
            <a:ext cx="6432267" cy="53617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用例说明：以“发起定制申请”为例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用例要素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822">
            <a:off x="1016009" y="2178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3368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用例名称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23368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发起定制申请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1016009" y="28892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参与者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304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普通用户、非遗匠人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822">
            <a:off x="1016009" y="36004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37592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前置条件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86000" y="37592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用户已登录，匠人已入驻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822">
            <a:off x="1016009" y="4311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4704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后置条件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286000" y="44704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生成定制申请记录，状态更新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69000" y="177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基本流程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384">
            <a:off x="5969008" y="21780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 rot="5386025">
            <a:off x="4711700" y="3689363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969000" y="21082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02400" y="21082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用户浏览匠人作品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969000" y="26924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02400" y="2692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选择匠人并填写定制需求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969000" y="32766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02400" y="32766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提交定制申请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969000" y="38608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02400" y="38608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匠人查看并回复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969000" y="44450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02400" y="444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双方沟通确认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969000" y="50292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02400" y="50292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匠人处理定制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4297">
            <a:off x="1016004" y="5632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1016000" y="58166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将原本私下的定制沟通，转化为平台规范化的对接流程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活动图与顺序图：业务流程与对象交互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494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94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Connector 39"/>
          <p:cNvCxnSpPr/>
          <p:nvPr/>
        </p:nvCxnSpPr>
        <p:spPr>
          <a:xfrm rot="-4297">
            <a:off x="1016004" y="6191251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2024668" y="6197895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活动图：展示业务步骤和判断分支</a:t>
            </a:r>
            <a:r>
              <a:rPr lang="en-US" sz="1500" b="1" i="0" u="none" strike="noStrike" dirty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　｜　　</a:t>
            </a:r>
            <a:r>
              <a:rPr lang="en-US" sz="15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顺序图：展示对象之间消息传递顺序</a:t>
            </a:r>
            <a:endParaRPr lang="en-US" sz="1100" dirty="0"/>
          </a:p>
        </p:txBody>
      </p:sp>
      <p:sp>
        <p:nvSpPr>
          <p:cNvPr id="41" name="AutoShape 41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n-US" sz="1100" dirty="0"/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957937" y="2260183"/>
            <a:ext cx="28520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SC" panose="020B0200000000000000" charset="-122"/>
                <a:ea typeface="Noto Sans SC" panose="020B0200000000000000" charset="-122"/>
                <a:cs typeface="Times New Roman" panose="02020603050405020304" pitchFamily="18" charset="0"/>
              </a:rPr>
              <a:t>用户发布个人手作作品活动图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03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2692400"/>
            <a:ext cx="47148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6160629" y="2293018"/>
            <a:ext cx="244169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SC" panose="020B0200000000000000" charset="-122"/>
                <a:ea typeface="Noto Sans SC" panose="020B0200000000000000" charset="-122"/>
                <a:cs typeface="Times New Roman" panose="02020603050405020304" pitchFamily="18" charset="0"/>
              </a:rPr>
              <a:t>用户发起定制对接活动图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03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629" y="2690895"/>
            <a:ext cx="4762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活动图与顺序图：业务流程与对象交互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494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700" b="1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顺序图</a:t>
            </a:r>
            <a:endParaRPr lang="en-US" altLang="zh-CN" sz="1100" dirty="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949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33782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9" name="Connector 39"/>
          <p:cNvCxnSpPr/>
          <p:nvPr/>
        </p:nvCxnSpPr>
        <p:spPr>
          <a:xfrm rot="-4297">
            <a:off x="1016004" y="607813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2048497" y="6096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活动图：展示业务步骤和判断分支</a:t>
            </a:r>
            <a:r>
              <a:rPr lang="en-US" sz="1500" b="1" i="0" u="none" strike="noStrike" dirty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　｜　　</a:t>
            </a:r>
            <a:r>
              <a:rPr lang="en-US" sz="15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顺序图：展示对象之间消息传递顺序</a:t>
            </a:r>
            <a:endParaRPr lang="en-US" sz="1100" dirty="0"/>
          </a:p>
        </p:txBody>
      </p:sp>
      <p:sp>
        <p:nvSpPr>
          <p:cNvPr id="41" name="AutoShape 41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11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6000" y="2251661"/>
            <a:ext cx="244169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SC" panose="020B0200000000000000" charset="-122"/>
                <a:ea typeface="Noto Sans SC" panose="020B0200000000000000" charset="-122"/>
                <a:cs typeface="Times New Roman" panose="02020603050405020304" pitchFamily="18" charset="0"/>
              </a:rPr>
              <a:t>用户发起定制对接顺序图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049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2862262"/>
            <a:ext cx="5192167" cy="288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463481" y="2243417"/>
            <a:ext cx="135099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 SC" panose="020B0200000000000000" charset="-122"/>
                <a:ea typeface="Noto Sans SC" panose="020B0200000000000000" charset="-122"/>
                <a:cs typeface="Times New Roman" panose="02020603050405020304" pitchFamily="18" charset="0"/>
              </a:rPr>
              <a:t>用户发布手作作品顺序图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051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481" y="2858327"/>
            <a:ext cx="5383179" cy="288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类图与状态图：数据建模与状态流转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108364" y="3619033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</a:t>
            </a:r>
            <a:r>
              <a:rPr lang="zh-CN" altLang="en-US" sz="1700" b="1" i="0" u="none" strike="noStrike" dirty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</a:t>
            </a:r>
            <a:endParaRPr lang="en-US" sz="1100" dirty="0"/>
          </a:p>
        </p:txBody>
      </p:sp>
      <p:cxnSp>
        <p:nvCxnSpPr>
          <p:cNvPr id="35" name="Connector 35"/>
          <p:cNvCxnSpPr/>
          <p:nvPr/>
        </p:nvCxnSpPr>
        <p:spPr>
          <a:xfrm rot="-4297">
            <a:off x="1016003" y="6215717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n-US" sz="1100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509" y="1434087"/>
            <a:ext cx="9573490" cy="4700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类图与状态图：数据建模与状态流转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1637704" y="3619033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状态图</a:t>
            </a:r>
            <a:endParaRPr lang="en-US" sz="1100" dirty="0"/>
          </a:p>
        </p:txBody>
      </p:sp>
      <p:cxnSp>
        <p:nvCxnSpPr>
          <p:cNvPr id="35" name="Connector 35"/>
          <p:cNvCxnSpPr/>
          <p:nvPr/>
        </p:nvCxnSpPr>
        <p:spPr>
          <a:xfrm rot="-4297">
            <a:off x="1016003" y="6215717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n-US" sz="11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361" y="1384300"/>
            <a:ext cx="5113565" cy="46932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58800"/>
            <a:ext cx="1041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本周总结与下周计划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4554">
            <a:off x="889023" y="1365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本周完成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62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下周计划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1016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9046">
            <a:off x="6350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73200" y="22860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团队组建与分工，每人承担开发 + 测试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0734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73200" y="29464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课题选定，核心功能 7 个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7338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73200" y="36068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竞品调研写入需求报告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3942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73200" y="4267200"/>
            <a:ext cx="4699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用例图 + 用例说明、2 张活动图、2 张顺序图、类图、状态图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1308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73200" y="50038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原始绘图文件已保留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2860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0" y="2286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完成概要设计和数据库表设计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0226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30226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搭建前后端基础框架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7592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37592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优先实现非遗作品展示、手作教程模块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495800"/>
            <a:ext cx="35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858000" y="44958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开展单元测试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297">
            <a:off x="1016004" y="5886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048000" y="6070600"/>
            <a:ext cx="609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本周汇报到此结束，谢谢各位老师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049000" y="65532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1887</Words>
  <Application>WPS 演示</Application>
  <PresentationFormat>宽屏</PresentationFormat>
  <Paragraphs>370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Inter</vt:lpstr>
      <vt:lpstr>Segoe Print</vt:lpstr>
      <vt:lpstr>Times New Roman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WPS_1677931502</cp:lastModifiedBy>
  <cp:revision>11</cp:revision>
  <dcterms:created xsi:type="dcterms:W3CDTF">2026-09-10T05:30:00Z</dcterms:created>
  <dcterms:modified xsi:type="dcterms:W3CDTF">2026-09-11T03:30:21Z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{"Label":"1","ContentProducer":"001191110102MACQD9K64010000","ProduceID":"7683738640371371214","ReservedCode1":"","ContentPropagator":"","PropagateID":"","ReservedCode2":""}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DC54780BA8ED443C9C04D09D7C0F46FF_13</vt:lpwstr>
  </property>
</Properties>
</file>