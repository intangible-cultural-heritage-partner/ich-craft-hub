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  <p:sldMasterId id="2147483674" r:id="rId5"/>
  </p:sldMasterIdLst>
  <p:notesMasterIdLst>
    <p:notesMasterId r:id="rId7"/>
  </p:notes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3.xml"/><Relationship Id="rId8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各位老师好，我们是软工1班第8组。经过五周的开发，我们的非遗手作数字展示与共创平台已经完成全部功能开发与联调。今天的汇报分为课题背景、系统功能、创新点三个部分，用时约5分钟，之后进行系统演示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今天的汇报分为七个部分：首先介绍课题背景和平台定位，然后展示系统六大模块功能，说明技术架构与数据库设计，提炼三个创新点，汇报项目交付成果与团队分工，最后进行现场系统演示。整体讲解约5分钟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非遗手作目前面临四个现实痛点：传承人老龄化、线下展地域受限、匠人缺线上定制渠道、爱好者作品缺分享阵地。针对这些问题，我们搭建了这个B/S架构Web平台，把线上展示、线上学习、定制对接、共创分享四个环节串成完整闭环，让用户从"看"到"学"到"做"再到"分享"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系统共九大模块：核心业务五块是非遗展品展示（含3D预览）、手作教程学习（图文+视频）、用户作品共创、定制交易对接、匠人申请通道；管理与交易三块是内容审核中心、钱包支付体系、管理后台数据概览；系统基础是三角色用户体系与权限控制。其中定制交易和钱包支付是核心创新模块，实现了完整的C2M交易资金闭环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三大核心内容模块：非遗展品支持glb三维模型上传和在线旋转预览，突破传统图文展示局限；手作教程支持500MB视频上传，把口传心授变成可回放教学，分类切换采用AJAX无刷新加载；用户作品模块支持多图视频发布和点赞评论互动，形成学习成果的公开交流阵地。三个模块统一采用发布-审核-通过/驳回流程，驳回附理由可编辑重提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定制交易是本项目的核心创新模块，实现了完整的C2M交易闭环。八种状态覆盖从用户发起申请到交易完成的全流程：用户新建申请后，匠人可拒绝或接受进入沟通，双方在线沟通需求后匠人报价，用户支付定金开始制作，制作完成后支付尾款，最终交易完成。定金和尾款均从用户钱包余额扣除，交易流水记录在custom_payment表，资金不经过第三方支付平台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左侧是内置钱包体系：每用户唯一钱包，充值需管理员审核后到账，定金尾款自动从余额扣除，充值、支出、收款全量流水记录。右侧是内容审核中心：展品、教程、作品三个Tab切换审核，通过或驳回附理由；公开列表只展示审核通过内容，未审核内容仅作者和管理员可见。管理后台提供数据概览、充值审核和匠人申请审核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平台核心是完整业务闭环：用户在"看"环节浏览非遗展品甚至旋转查看3D模型，在"学"环节跟着视频教程学习，在"做"环节上传作品点赞评论，还可以在"定制"环节向匠人发起定制申请，通过钱包支付定金和尾款。系统在每个环节都提供对应功能支撑，把单向展示变成用户深度参与的共创过程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实际开发中我们采用前后端一体模式：视图层用 Thymeleaf 服务端渲染，配合 HTML/CSS/JS；后端用 Spring Boot 加 Spring Data JPA，通过 Session 实现三类角色权限控制；数据库是 MySQL 8.0，共设计9张业务表，覆盖用户、展品、教程、作品、收藏点赞评论、定制等全部实体；代码和文档托管在 Gitee，用 Maven 管理依赖。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项目有八个创新点：1.非遗展品支持glb三维模型在线旋转预览；2.C2M定制交易8状态完整闭环；3.独立钱包体系+充值审核+全量流水；4.500MB大文件视频教程把口传心授变成可回放教学；5.三内容模块统一三级审核质量管控；6.AJAX无刷新分类浏览配合pushState；7.自研验证码排除易混字符兼顾安全和体验；8.全站深棕米色渐变统一视觉设计语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五周下来，我们按课程要求交付了全套制品：需求分析报告、SDS软件设计规格说明书、软件测试文档、小组周总结，以及一个六大模块全部联调通过的可运行系统；所有代码和文档都托管在Gitee公开仓库，UML图均为手工绘制。下面请老师看系统演示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这是用例图。系统有三类参与者：管理员、匠人和普通用户。用例覆盖作品展示、教程学习、定制对接、用户分享、审核管理和数据统计，完整对应前面 7 个核心功能。图中用例与参与者关系为示意，后续可替换为小组实际绘制的用例图。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Songti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五周课程任务到此全部完成：六大业务模块开发联调通过，全套文档交付，Gitee代码和文档已最终提交，黑盒测试覆盖核心流程。后续我们计划把系统部署到云服务器、做移动端适配和实时消息。我的PPT汇报部分到此结束，接下来进行系统演示，恳请各位老师批评指正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6" hasCustomPrompt="1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ctr">
              <a:lnSpc>
                <a:spcPct val="92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92000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45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7" hasCustomPrompt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ctr">
              <a:lnSpc>
                <a:spcPct val="92000"/>
              </a:lnSpc>
              <a:defRPr sz="18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61950" algn="ctr">
              <a:lnSpc>
                <a:spcPct val="92000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subtitle</a:t>
            </a:r>
            <a:endParaRPr lang="en-US" sz="18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1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47B8CCF9-422B-4240-B9B4-E75C34A3775D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1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1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1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1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1B2F905-51E4-4A7A-9E4D-AB4C3B26E65A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6" hasCustomPrompt="1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45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17" hasCustomPrompt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8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1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1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2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CD48BA02-1F16-4E74-9478-6D1295752394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2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22" hasCustomPrompt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23" hasCustomPrompt="1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24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25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>
            <p:ph type="body" sz="quarter" idx="26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0D042275-F137-4FE6-9360-707E866D847E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27" hasCustomPrompt="1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28" hasCustomPrompt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800" b="1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29" hasCustomPrompt="1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30" hasCustomPrompt="1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800" b="1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31" hasCustomPrompt="1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>
            <p:ph type="body" sz="quarter" idx="32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>
            <p:ph type="body" sz="quarter" idx="33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>
            <p:ph type="body" sz="quarter" idx="34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6F5B89B6-3BE4-4D71-A929-96C56799F50D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35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3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3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3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204DFC4F-BADB-4B95-B83C-BEC152330A5B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39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40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41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E7FD3422-D2C5-4F6C-AC2E-F6D983BD473F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42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24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43" hasCustomPrompt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4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81000" algn="l">
              <a:lnSpc>
                <a:spcPct val="92000"/>
              </a:lnSpc>
              <a:spcBef>
                <a:spcPts val="8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4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44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2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45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46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>
            <p:ph type="body" sz="quarter" idx="47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DE7CFB2D-4823-4644-9CC1-8129E012CC10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48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24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pic" sz="quarter" idx="49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algn="ctr"/>
          </a:p>
        </p:txBody>
      </p:sp>
      <p:sp>
        <p:nvSpPr>
          <p:cNvPr id="4" name="AutoShape 4"/>
          <p:cNvSpPr/>
          <p:nvPr>
            <p:ph type="body" sz="quarter" idx="50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2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5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5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>
            <p:ph type="body" sz="quarter" idx="5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735B8BDB-8397-4C44-A5E2-D7A3B8464774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5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55" hasCustomPrompt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5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5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5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AB87E7F0-BDF6-423C-A337-46AB5DF964D3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59" hasCustomPrompt="1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60" hasCustomPrompt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6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6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6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2FD1C7FF-03FD-425A-983B-76058E8AAA3A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69" hasCustomPrompt="1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ctr">
              <a:lnSpc>
                <a:spcPct val="92000"/>
              </a:lnSpc>
              <a:defRPr sz="45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92000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45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70" hasCustomPrompt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ctr">
              <a:lnSpc>
                <a:spcPct val="92000"/>
              </a:lnSpc>
              <a:defRPr sz="18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61950" algn="ctr">
              <a:lnSpc>
                <a:spcPct val="92000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subtitle</a:t>
            </a:r>
            <a:endParaRPr lang="en-US" sz="18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7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7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7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C90CEEF-D197-48E6-807F-C0CF7AE98030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7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75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7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7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7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318F2D60-D800-46DA-8EBA-7AD2B9DD81A6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79" hasCustomPrompt="1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45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45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80" hasCustomPrompt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18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8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8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8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8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B994A68-697C-498C-AAE1-87191B22A074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8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85" hasCustomPrompt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86" hasCustomPrompt="1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87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88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>
            <p:ph type="body" sz="quarter" idx="89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F2A358DF-F021-4797-B62B-CA818D0F156F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90" hasCustomPrompt="1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91" hasCustomPrompt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1800" b="1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800" b="1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92" hasCustomPrompt="1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93" hasCustomPrompt="1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1800" b="1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800" b="1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94" hasCustomPrompt="1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>
            <p:ph type="body" sz="quarter" idx="95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>
            <p:ph type="body" sz="quarter" idx="96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AutoShape 9"/>
          <p:cNvSpPr/>
          <p:nvPr>
            <p:ph type="body" sz="quarter" idx="97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EAF7A7F3-5E7C-4E36-BA87-5C3D4B2D6E53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98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99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100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101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EA337F34-E5BE-499D-B4D4-EA23BEEFA1B8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02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103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104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AD28071-7A2D-4D5E-887E-AE56D1286F14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05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24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106" hasCustomPrompt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81000" algn="l">
              <a:lnSpc>
                <a:spcPct val="92000"/>
              </a:lnSpc>
              <a:spcBef>
                <a:spcPts val="8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4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107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12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2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10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10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>
            <p:ph type="body" sz="quarter" idx="11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7B7E77E7-F120-495E-94C9-F837E7C00DF9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11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2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24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pic" sz="quarter" idx="11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algn="ctr"/>
          </a:p>
        </p:txBody>
      </p:sp>
      <p:sp>
        <p:nvSpPr>
          <p:cNvPr id="4" name="AutoShape 4"/>
          <p:cNvSpPr/>
          <p:nvPr>
            <p:ph type="body" sz="quarter" idx="113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12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228600" algn="l">
              <a:lnSpc>
                <a:spcPct val="92000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12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114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115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>
            <p:ph type="body" sz="quarter" idx="116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09832832-3E66-4ACB-A68A-E7A5CE1033C1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17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118" hasCustomPrompt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119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120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121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DDA93FBD-1978-48E2-B73E-941B83F467EF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body" sz="quarter" idx="122" hasCustomPrompt="1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2000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92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123" hasCustomPrompt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2000"/>
              </a:lnSpc>
              <a:defRPr sz="21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457200" indent="-317500" algn="l">
              <a:lnSpc>
                <a:spcPct val="92000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124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" name="AutoShape 5"/>
          <p:cNvSpPr/>
          <p:nvPr>
            <p:ph type="body" sz="quarter" idx="125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126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D7F2F1D1-140E-4ED5-ADFF-FA622FE90C5F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0.xml"/><Relationship Id="rId7" Type="http://schemas.openxmlformats.org/officeDocument/2006/relationships/slideLayout" Target="../slideLayouts/slideLayout19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0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2" Type="http://schemas.openxmlformats.org/officeDocument/2006/relationships/theme" Target="../theme/theme4.xml"/><Relationship Id="rId11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3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AutoShape 1"/>
          <p:cNvSpPr/>
          <p:nvPr>
            <p:ph type="body" sz="quarter" idx="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100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" name="AutoShape 2"/>
          <p:cNvSpPr/>
          <p:nvPr>
            <p:ph type="body" sz="quarter" idx="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100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 panose="020B0200000000000000" charset="-122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03335CD-CFB0-4FA5-B67E-CF4BF763DD72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AutoShape 1"/>
          <p:cNvSpPr/>
          <p:nvPr>
            <p:ph type="body" sz="quarter" idx="6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100000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title</a:t>
            </a:r>
            <a:endParaRPr lang="en-US" sz="33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" name="AutoShape 2"/>
          <p:cNvSpPr/>
          <p:nvPr>
            <p:ph type="body" sz="quarter" idx="65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100000"/>
              </a:lnSpc>
              <a:defRPr sz="2100" b="0" i="0" u="none" strike="noStrike" spc="0">
                <a:solidFill>
                  <a:srgbClr val="000000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21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Click to add text</a:t>
            </a:r>
            <a:endParaRPr lang="en-US" sz="2100" b="0" i="0" u="none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AutoShape 3"/>
          <p:cNvSpPr/>
          <p:nvPr>
            <p:ph type="body" sz="quarter" idx="6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Date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" name="AutoShape 4"/>
          <p:cNvSpPr/>
          <p:nvPr>
            <p:ph type="body" sz="quarter" idx="6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Footer</a:t>
            </a:r>
            <a:endParaRPr lang="en-US"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AutoShape 6"/>
          <p:cNvSpPr/>
          <p:nvPr>
            <p:ph type="body" sz="quarter" idx="6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 panose="020B0604020202020204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A051D1B-56C5-48EF-8180-65BDCCFE17CB}" type="slidenum">
              <a:rPr sz="900" b="0" i="0" u="none" strike="noStrik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fld>
            <a:endParaRPr sz="900" b="0" i="0" u="none" strike="noStrike">
              <a:solidFill>
                <a:srgbClr val="888888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2"/>
          <p:cNvCxnSpPr/>
          <p:nvPr/>
        </p:nvCxnSpPr>
        <p:spPr>
          <a:xfrm rot="-42969">
            <a:off x="889040" y="14922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" name="AutoShape 3"/>
          <p:cNvSpPr/>
          <p:nvPr/>
        </p:nvSpPr>
        <p:spPr>
          <a:xfrm>
            <a:off x="2082800" y="1295400"/>
            <a:ext cx="3048000" cy="431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课程设计最终答辩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889000" y="1905000"/>
            <a:ext cx="6858000" cy="1168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3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非遗手作数字展示与共创平台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89000" y="3251200"/>
            <a:ext cx="6858000" cy="558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系统实现 · 功能演示 · 创新总结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14322">
            <a:off x="889013" y="40322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889000" y="4318000"/>
            <a:ext cx="6731000" cy="2032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D8DDE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课程：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软件课程设计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D8DDE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小组：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第8组</a:t>
            </a:r>
            <a:endParaRPr lang="en-US" sz="1400" b="0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D8DDE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成员：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臧博文、葛子实、田浩池、徐锦泽、杨井源、张洋</a:t>
            </a:r>
            <a:endParaRPr lang="en-US" sz="1400" b="0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D8DDE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汇报人：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葛子实</a:t>
            </a:r>
            <a:endParaRPr lang="en-US" sz="1400" b="0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D8DDE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日期：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2026年10月9日</a:t>
            </a:r>
            <a:endParaRPr lang="en-US" sz="1400" b="0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8" name="Connector 8"/>
          <p:cNvCxnSpPr/>
          <p:nvPr/>
        </p:nvCxnSpPr>
        <p:spPr>
          <a:xfrm rot="-11087">
            <a:off x="7747010" y="603250"/>
            <a:ext cx="393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9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Connector 9"/>
          <p:cNvCxnSpPr/>
          <p:nvPr/>
        </p:nvCxnSpPr>
        <p:spPr>
          <a:xfrm rot="-11087">
            <a:off x="7747010" y="5480050"/>
            <a:ext cx="393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9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0" name="Picture 10"/>
          <p:cNvPicPr>
            <a:picLocks noChangeAspect="1"/>
          </p:cNvPicPr>
          <p:nvPr/>
        </p:nvPicPr>
        <p:blipFill>
          <a:blip r:embed="rId1"/>
          <a:srcRect l="32" r="32"/>
          <a:stretch>
            <a:fillRect/>
          </a:stretch>
        </p:blipFill>
        <p:spPr>
          <a:xfrm>
            <a:off x="7810500" y="698500"/>
            <a:ext cx="3746500" cy="4686300"/>
          </a:xfrm>
          <a:prstGeom prst="rect">
            <a:avLst/>
          </a:prstGeom>
          <a:ln w="127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8636000" cy="6604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答辩内容概览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3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-4297">
            <a:off x="1016004" y="1771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D1B2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5" name="Connector 5"/>
          <p:cNvCxnSpPr/>
          <p:nvPr/>
        </p:nvCxnSpPr>
        <p:spPr>
          <a:xfrm rot="-4297">
            <a:off x="1016004" y="23558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D1B2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1016000" y="1778000"/>
          <a:ext cx="10160000" cy="4318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572000"/>
                <a:gridCol w="5588000"/>
              </a:tblGrid>
              <a:tr h="584200"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汇报模块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核心要点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课题背景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非遗手作现状痛点与平台定位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系统功能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九大模块完整实现，覆盖看-学-做-定制-支付闭环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技术架构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SpringBoot + Thymeleaf + MySQL，9张数据表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创新点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3D预览、C2M定制闭环、内置钱包、视频教程等8大亮点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项目成果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SDS、测试文档、Gitee代码全部交付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团队分工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6人模块并行开发，前后端一体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系统演示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1F2329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现场演示核心业务流程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7" name="Connector 7"/>
          <p:cNvCxnSpPr/>
          <p:nvPr/>
        </p:nvCxnSpPr>
        <p:spPr>
          <a:xfrm rot="-4297">
            <a:off x="1016004" y="6089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D1B2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8" name="AutoShape 8"/>
          <p:cNvSpPr/>
          <p:nvPr/>
        </p:nvSpPr>
        <p:spPr>
          <a:xfrm>
            <a:off x="11049000" y="6400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课题背景：非遗手作数字化的现实需求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3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1016000" y="1778000"/>
            <a:ext cx="4826000" cy="431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现实痛点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9549">
            <a:off x="1016009" y="22288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4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6350000" y="1778000"/>
            <a:ext cx="4826000" cy="431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平台定位与闭环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9549">
            <a:off x="6350009" y="22288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4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/>
        </p:nvCxnSpPr>
        <p:spPr>
          <a:xfrm rot="5389582">
            <a:off x="3848100" y="3867160"/>
            <a:ext cx="419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3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2463800"/>
            <a:ext cx="4826000" cy="762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传承人老龄化，传统技艺后继乏人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3352800"/>
            <a:ext cx="4826000" cy="762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线下展览地域受限，大众难系统学习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4241800"/>
            <a:ext cx="4826000" cy="762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匠人缺线上渠道对接定制需求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016000" y="5130800"/>
            <a:ext cx="4826000" cy="762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爱好者习作缺公开分享交流阵地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350000" y="2463800"/>
            <a:ext cx="4826000" cy="762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线上展示：非遗作品分类结构化展示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350000" y="3352800"/>
            <a:ext cx="4826000" cy="762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线上学习：匠人发布图文与视频教程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4241800"/>
            <a:ext cx="4826000" cy="9652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定制对接：用户发起申请，双向沟通需求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350000" y="5257800"/>
            <a:ext cx="4826000" cy="7112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共创分享：用户上传作品，点赞评论互动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1049000" y="6400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系统功能总览：九大模块全部完成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4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889000" y="1625600"/>
            <a:ext cx="3810000" cy="355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核心业务（5 项）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89000" y="2057400"/>
            <a:ext cx="1968500" cy="787400"/>
          </a:xfrm>
          <a:prstGeom prst="roundRect">
            <a:avLst>
              <a:gd name="adj" fmla="val 967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9A66B">
                <a:alpha val="40000"/>
              </a:srgbClr>
            </a:solidFill>
            <a:prstDash val="solid"/>
            <a:round/>
          </a:ln>
        </p:spPr>
        <p:txBody>
          <a:bodyPr vert="horz" wrap="square" lIns="101600" tIns="101600" rIns="101600" bIns="5080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非遗展品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3D模型预览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3009900" y="2057400"/>
            <a:ext cx="1968500" cy="787400"/>
          </a:xfrm>
          <a:prstGeom prst="roundRect">
            <a:avLst>
              <a:gd name="adj" fmla="val 967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9A66B">
                <a:alpha val="40000"/>
              </a:srgbClr>
            </a:solidFill>
            <a:prstDash val="solid"/>
            <a:round/>
          </a:ln>
        </p:spPr>
        <p:txBody>
          <a:bodyPr vert="horz" wrap="square" lIns="101600" tIns="101600" rIns="101600" bIns="5080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手作教程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图文+视频教学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5130800" y="2057400"/>
            <a:ext cx="1968500" cy="787400"/>
          </a:xfrm>
          <a:prstGeom prst="roundRect">
            <a:avLst>
              <a:gd name="adj" fmla="val 967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9A66B">
                <a:alpha val="40000"/>
              </a:srgbClr>
            </a:solidFill>
            <a:prstDash val="solid"/>
            <a:round/>
          </a:ln>
        </p:spPr>
        <p:txBody>
          <a:bodyPr vert="horz" wrap="square" lIns="101600" tIns="101600" rIns="101600" bIns="5080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用户作品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点赞评论互动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251700" y="2057400"/>
            <a:ext cx="1968500" cy="787400"/>
          </a:xfrm>
          <a:prstGeom prst="roundRect">
            <a:avLst>
              <a:gd name="adj" fmla="val 9677"/>
            </a:avLst>
          </a:prstGeom>
          <a:solidFill>
            <a:srgbClr val="FFF8EB">
              <a:alpha val="100000"/>
            </a:srgbClr>
          </a:solidFill>
          <a:ln w="127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101600" tIns="101600" rIns="101600" bIns="5080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定制交易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8状态流转·核心</a:t>
            </a:r>
            <a:endParaRPr lang="en-US" sz="1100" b="0" i="0" u="none" strike="noStrike">
              <a:solidFill>
                <a:srgbClr val="A0783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9372600" y="2057400"/>
            <a:ext cx="1968500" cy="787400"/>
          </a:xfrm>
          <a:prstGeom prst="roundRect">
            <a:avLst>
              <a:gd name="adj" fmla="val 967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9A66B">
                <a:alpha val="40000"/>
              </a:srgbClr>
            </a:solidFill>
            <a:prstDash val="solid"/>
            <a:round/>
          </a:ln>
        </p:spPr>
        <p:txBody>
          <a:bodyPr vert="horz" wrap="square" lIns="101600" tIns="101600" rIns="101600" bIns="50800" rtlCol="0" anchor="ctr" anchorCtr="0"/>
          <a:lstStyle/>
          <a:p>
            <a:pPr marL="0"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匠人申请</a:t>
            </a:r>
            <a:endParaRPr lang="en-US" sz="1100"/>
          </a:p>
          <a:p>
            <a:pPr marL="0" indent="0" algn="ctr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审核升级角色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4192">
            <a:off x="889004" y="3168650"/>
            <a:ext cx="1041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889000" y="3378200"/>
            <a:ext cx="3810000" cy="355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管理与交易（3 项）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89000" y="3810000"/>
            <a:ext cx="3175000" cy="787400"/>
          </a:xfrm>
          <a:prstGeom prst="roundRect">
            <a:avLst>
              <a:gd name="adj" fmla="val 967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9A66B">
                <a:alpha val="40000"/>
              </a:srgbClr>
            </a:solidFill>
            <a:prstDash val="solid"/>
            <a:round/>
          </a:ln>
        </p:spPr>
        <p:txBody>
          <a:bodyPr vert="horz" wrap="square" lIns="152400" tIns="101600" rIns="101600" bIns="5080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内容审核中心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三Tab切换·通过/驳回附理由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4508500" y="3810000"/>
            <a:ext cx="3175000" cy="787400"/>
          </a:xfrm>
          <a:prstGeom prst="roundRect">
            <a:avLst>
              <a:gd name="adj" fmla="val 9677"/>
            </a:avLst>
          </a:prstGeom>
          <a:solidFill>
            <a:srgbClr val="FFF8EB">
              <a:alpha val="100000"/>
            </a:srgbClr>
          </a:solidFill>
          <a:ln w="127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152400" tIns="101600" rIns="101600" bIns="5080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钱包支付体系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充值审核·流水记录·余额联动</a:t>
            </a:r>
            <a:endParaRPr lang="en-US" sz="1100" b="0" i="0" u="none" strike="noStrike">
              <a:solidFill>
                <a:srgbClr val="A0783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128000" y="3810000"/>
            <a:ext cx="3175000" cy="787400"/>
          </a:xfrm>
          <a:prstGeom prst="roundRect">
            <a:avLst>
              <a:gd name="adj" fmla="val 967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9A66B">
                <a:alpha val="40000"/>
              </a:srgbClr>
            </a:solidFill>
            <a:prstDash val="solid"/>
            <a:round/>
          </a:ln>
        </p:spPr>
        <p:txBody>
          <a:bodyPr vert="horz" wrap="square" lIns="152400" tIns="101600" rIns="101600" bIns="5080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管理后台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数据概览·充值审核·匠人审核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4192">
            <a:off x="889004" y="4921250"/>
            <a:ext cx="1041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889000" y="5130800"/>
            <a:ext cx="3810000" cy="355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系统基础（1 项）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89000" y="5537200"/>
            <a:ext cx="6350000" cy="635000"/>
          </a:xfrm>
          <a:prstGeom prst="roundRect">
            <a:avLst>
              <a:gd name="adj" fmla="val 12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9A66B">
                <a:alpha val="40000"/>
              </a:srgbClr>
            </a:solidFill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用户体系与权限</a:t>
            </a: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　三角色(普通用户/匠人/管理员)·验证码注册·Session登录·个人中心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493000" y="5664200"/>
            <a:ext cx="3556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九大模块全部联调完成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11049000" y="64008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核心业务模块：展品 · 教程 · 作品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4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889000" y="1651000"/>
            <a:ext cx="3365500" cy="4318000"/>
          </a:xfrm>
          <a:prstGeom prst="roundRect">
            <a:avLst>
              <a:gd name="adj" fmla="val 3018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41400" y="1828800"/>
            <a:ext cx="3111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非遗展品模块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14566">
            <a:off x="1041413" y="2279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41400" y="2413000"/>
            <a:ext cx="3111500" cy="342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发布：标题、分类、技艺背景、封面、多图画廊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3D预览：支持 .glb 模型上传，可旋转查看立体形态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图片画廊：主图+缩略图联动，左右箭头切换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审核：发布后待审，通过展示，驳回附理由可编辑重提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作者本人可删除已发布展品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406900" y="1651000"/>
            <a:ext cx="3365500" cy="4318000"/>
          </a:xfrm>
          <a:prstGeom prst="roundRect">
            <a:avLst>
              <a:gd name="adj" fmla="val 3018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559300" y="1828800"/>
            <a:ext cx="3111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手作教程模块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14566">
            <a:off x="4559313" y="2279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4559300" y="2413000"/>
            <a:ext cx="3111500" cy="342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发布：标题、分类、标签、图文内容、封面图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视频上传：支持 500MB 大文件，完整记录教学过程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AJAX分类：fetch异步加载 + pushState同步URL，无刷新切换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审核流程与展品一致，作者可删除教程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924800" y="1651000"/>
            <a:ext cx="3365500" cy="4318000"/>
          </a:xfrm>
          <a:prstGeom prst="roundRect">
            <a:avLst>
              <a:gd name="adj" fmla="val 3018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077200" y="1828800"/>
            <a:ext cx="3111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用户作品模块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4566">
            <a:off x="8077213" y="2279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8077200" y="2413000"/>
            <a:ext cx="3111500" cy="342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发布：标题、描述、封面、多图、视频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互动：点赞、评论，形成学习成果交流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作品广场：公开展示已通过审核的作品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12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■ </a:t>
            </a: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作者本人可删除自己的作品</a:t>
            </a:r>
            <a:endParaRPr lang="en-US" sz="12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11049000" y="64008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05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08000"/>
            <a:ext cx="10414000" cy="660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定制交易闭环：C2M 八种状态流转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4">
            <a:off x="889023" y="12636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889000" y="1651000"/>
            <a:ext cx="1270000" cy="635000"/>
          </a:xfrm>
          <a:prstGeom prst="roundRect">
            <a:avLst>
              <a:gd name="adj" fmla="val 1200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50800" tIns="50800" rIns="50800" bIns="5080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 新建申请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用户发起</a:t>
            </a:r>
            <a:endParaRPr lang="en-US" sz="1000" b="0" i="0" u="none" strike="noStrike">
              <a:solidFill>
                <a:srgbClr val="C9A66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1143000" cy="508000"/>
          </a:xfrm>
          <a:prstGeom prst="roundRect">
            <a:avLst>
              <a:gd name="adj" fmla="val 15000"/>
            </a:avLst>
          </a:prstGeom>
          <a:solidFill>
            <a:srgbClr val="DC5050">
              <a:alpha val="10000"/>
            </a:srgbClr>
          </a:solidFill>
          <a:ln w="12700" cap="flat" cmpd="sng">
            <a:solidFill>
              <a:srgbClr val="DC5050">
                <a:alpha val="60000"/>
              </a:srgbClr>
            </a:solidFill>
            <a:prstDash val="solid"/>
            <a:round/>
          </a:ln>
        </p:spPr>
        <p:txBody>
          <a:bodyPr vert="horz" wrap="square" lIns="50800" tIns="50800" rIns="50800" bIns="5080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C8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 已拒绝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C8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匠人填理由</a:t>
            </a:r>
            <a:endParaRPr lang="en-US" sz="900" b="0" i="0" u="none" strike="noStrike">
              <a:solidFill>
                <a:srgbClr val="C8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6" name="Connector 6"/>
          <p:cNvCxnSpPr/>
          <p:nvPr/>
        </p:nvCxnSpPr>
        <p:spPr>
          <a:xfrm rot="-68745">
            <a:off x="2159063" y="1962150"/>
            <a:ext cx="63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arrow" w="med" len="med"/>
          </a:ln>
        </p:spPr>
      </p:cxnSp>
      <p:sp>
        <p:nvSpPr>
          <p:cNvPr id="7" name="AutoShape 7"/>
          <p:cNvSpPr/>
          <p:nvPr/>
        </p:nvSpPr>
        <p:spPr>
          <a:xfrm>
            <a:off x="2857500" y="1651000"/>
            <a:ext cx="1270000" cy="635000"/>
          </a:xfrm>
          <a:prstGeom prst="roundRect">
            <a:avLst>
              <a:gd name="adj" fmla="val 12000"/>
            </a:avLst>
          </a:prstGeom>
          <a:solidFill>
            <a:srgbClr val="C9A66B">
              <a:alpha val="15000"/>
            </a:srgbClr>
          </a:solidFill>
          <a:ln w="127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50800" tIns="50800" rIns="50800" bIns="5080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 沟通中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双向留言</a:t>
            </a:r>
            <a:endParaRPr lang="en-US" sz="10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8" name="Connector 8"/>
          <p:cNvCxnSpPr/>
          <p:nvPr/>
        </p:nvCxnSpPr>
        <p:spPr>
          <a:xfrm rot="-68745">
            <a:off x="4127563" y="1962150"/>
            <a:ext cx="63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arrow" w="med" len="med"/>
          </a:ln>
        </p:spPr>
      </p:cxnSp>
      <p:sp>
        <p:nvSpPr>
          <p:cNvPr id="9" name="AutoShape 9"/>
          <p:cNvSpPr/>
          <p:nvPr/>
        </p:nvSpPr>
        <p:spPr>
          <a:xfrm>
            <a:off x="4826000" y="1651000"/>
            <a:ext cx="1270000" cy="635000"/>
          </a:xfrm>
          <a:prstGeom prst="roundRect">
            <a:avLst>
              <a:gd name="adj" fmla="val 12000"/>
            </a:avLst>
          </a:prstGeom>
          <a:solidFill>
            <a:srgbClr val="C9A66B">
              <a:alpha val="15000"/>
            </a:srgbClr>
          </a:solidFill>
          <a:ln w="127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50800" tIns="50800" rIns="50800" bIns="5080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 需求完结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匠人报价</a:t>
            </a:r>
            <a:endParaRPr lang="en-US" sz="10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68745">
            <a:off x="6096063" y="1962150"/>
            <a:ext cx="63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arrow" w="med" len="med"/>
          </a:ln>
        </p:spPr>
      </p:cxnSp>
      <p:sp>
        <p:nvSpPr>
          <p:cNvPr id="11" name="AutoShape 11"/>
          <p:cNvSpPr/>
          <p:nvPr/>
        </p:nvSpPr>
        <p:spPr>
          <a:xfrm>
            <a:off x="6794500" y="1651000"/>
            <a:ext cx="1270000" cy="635000"/>
          </a:xfrm>
          <a:prstGeom prst="roundRect">
            <a:avLst>
              <a:gd name="adj" fmla="val 12000"/>
            </a:avLst>
          </a:prstGeom>
          <a:solidFill>
            <a:srgbClr val="FFF0C8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50800" tIns="50800" rIns="50800" bIns="5080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 待付定金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钱包扣款</a:t>
            </a:r>
            <a:endParaRPr lang="en-US" sz="1000" b="0" i="0" u="none" strike="noStrike">
              <a:solidFill>
                <a:srgbClr val="A0783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2" name="Connector 12"/>
          <p:cNvCxnSpPr/>
          <p:nvPr/>
        </p:nvCxnSpPr>
        <p:spPr>
          <a:xfrm rot="-68745">
            <a:off x="8064563" y="1962150"/>
            <a:ext cx="63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arrow" w="med" len="med"/>
          </a:ln>
        </p:spPr>
      </p:cxnSp>
      <p:sp>
        <p:nvSpPr>
          <p:cNvPr id="13" name="AutoShape 13"/>
          <p:cNvSpPr/>
          <p:nvPr/>
        </p:nvSpPr>
        <p:spPr>
          <a:xfrm>
            <a:off x="8763000" y="1651000"/>
            <a:ext cx="1270000" cy="635000"/>
          </a:xfrm>
          <a:prstGeom prst="roundRect">
            <a:avLst>
              <a:gd name="adj" fmla="val 12000"/>
            </a:avLst>
          </a:prstGeom>
          <a:solidFill>
            <a:srgbClr val="C9A66B">
              <a:alpha val="15000"/>
            </a:srgbClr>
          </a:solidFill>
          <a:ln w="127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50800" tIns="50800" rIns="50800" bIns="5080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 制作中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匠人制作</a:t>
            </a:r>
            <a:endParaRPr lang="en-US" sz="10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4" name="Connector 14"/>
          <p:cNvCxnSpPr/>
          <p:nvPr/>
        </p:nvCxnSpPr>
        <p:spPr>
          <a:xfrm rot="5314074">
            <a:off x="9144000" y="25337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arrow" w="med" len="med"/>
          </a:ln>
        </p:spPr>
      </p:cxnSp>
      <p:sp>
        <p:nvSpPr>
          <p:cNvPr id="15" name="AutoShape 15"/>
          <p:cNvSpPr/>
          <p:nvPr/>
        </p:nvSpPr>
        <p:spPr>
          <a:xfrm>
            <a:off x="8763000" y="2857500"/>
            <a:ext cx="1270000" cy="635000"/>
          </a:xfrm>
          <a:prstGeom prst="roundRect">
            <a:avLst>
              <a:gd name="adj" fmla="val 12000"/>
            </a:avLst>
          </a:prstGeom>
          <a:solidFill>
            <a:srgbClr val="FFF0C8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50800" tIns="50800" rIns="50800" bIns="5080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 待付尾款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钱包扣款</a:t>
            </a:r>
            <a:endParaRPr lang="en-US" sz="1000" b="0" i="0" u="none" strike="noStrike">
              <a:solidFill>
                <a:srgbClr val="A0783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6" name="Connector 16"/>
          <p:cNvCxnSpPr/>
          <p:nvPr/>
        </p:nvCxnSpPr>
        <p:spPr>
          <a:xfrm rot="10768748">
            <a:off x="7365971" y="3168650"/>
            <a:ext cx="139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arrow" w="med" len="med"/>
          </a:ln>
        </p:spPr>
      </p:cxnSp>
      <p:sp>
        <p:nvSpPr>
          <p:cNvPr id="17" name="AutoShape 17"/>
          <p:cNvSpPr/>
          <p:nvPr/>
        </p:nvSpPr>
        <p:spPr>
          <a:xfrm>
            <a:off x="6032500" y="2857500"/>
            <a:ext cx="1270000" cy="635000"/>
          </a:xfrm>
          <a:prstGeom prst="roundRect">
            <a:avLst>
              <a:gd name="adj" fmla="val 12000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50800" tIns="50800" rIns="50800" bIns="5080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 交易完成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匠人确认完结</a:t>
            </a:r>
            <a:endParaRPr lang="en-US" sz="1000" b="0" i="0" u="none" strike="noStrike">
              <a:solidFill>
                <a:srgbClr val="C9A66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8" name="Connector 18"/>
          <p:cNvCxnSpPr/>
          <p:nvPr/>
        </p:nvCxnSpPr>
        <p:spPr>
          <a:xfrm rot="5277275">
            <a:off x="1346200" y="2457563"/>
            <a:ext cx="35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DC5050">
                <a:alpha val="6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id="19" name="AutoShape 19"/>
          <p:cNvSpPr/>
          <p:nvPr/>
        </p:nvSpPr>
        <p:spPr>
          <a:xfrm>
            <a:off x="889000" y="3937000"/>
            <a:ext cx="10414000" cy="1524000"/>
          </a:xfrm>
          <a:prstGeom prst="roundRect">
            <a:avLst>
              <a:gd name="adj" fmla="val 6666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1092200" y="4089400"/>
            <a:ext cx="482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普通用户端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发起定制申请 · 查看申请列表 · 沟通页实时对话 · 钱包支付定金/尾款</a:t>
            </a:r>
            <a:endParaRPr lang="en-US" sz="11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23000" y="4089400"/>
            <a:ext cx="482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匠人端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接单/拒绝(弹窗填理由) · 报价(系统算定金) · 制作中标记 · 确认完结交易</a:t>
            </a:r>
            <a:endParaRPr lang="en-US" sz="11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11049000" y="64008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06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钱包体系与内容审核中心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4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889000" y="1651000"/>
            <a:ext cx="4953000" cy="4699000"/>
          </a:xfrm>
          <a:prstGeom prst="roundRect">
            <a:avLst>
              <a:gd name="adj" fmla="val 216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92200" y="18288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内置钱包体系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602">
            <a:off x="1092209" y="2279650"/>
            <a:ext cx="4546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92200" y="2438400"/>
            <a:ext cx="4699000" cy="711200"/>
          </a:xfrm>
          <a:prstGeom prst="roundRect">
            <a:avLst>
              <a:gd name="adj" fmla="val 7142"/>
            </a:avLst>
          </a:prstGeom>
          <a:solidFill>
            <a:srgbClr val="FAF7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独立钱包账户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每用户唯一钱包账户，余额实时管理</a:t>
            </a:r>
            <a:endParaRPr lang="en-US" sz="11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92200" y="3225800"/>
            <a:ext cx="4699000" cy="711200"/>
          </a:xfrm>
          <a:prstGeom prst="roundRect">
            <a:avLst>
              <a:gd name="adj" fmla="val 7142"/>
            </a:avLst>
          </a:prstGeom>
          <a:solidFill>
            <a:srgbClr val="FAF7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充值审核流程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用户提交充值申请 → 管理员审核 → 通过后到账</a:t>
            </a:r>
            <a:endParaRPr lang="en-US" sz="11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092200" y="4013200"/>
            <a:ext cx="4699000" cy="711200"/>
          </a:xfrm>
          <a:prstGeom prst="roundRect">
            <a:avLst>
              <a:gd name="adj" fmla="val 7142"/>
            </a:avLst>
          </a:prstGeom>
          <a:solidFill>
            <a:srgbClr val="FAF7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全量交易流水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充值(RECHARGE) · 支出(PAY_OUT) · 收款(PAY_IN)</a:t>
            </a:r>
            <a:endParaRPr lang="en-US" sz="11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1092200" y="4800600"/>
            <a:ext cx="4699000" cy="711200"/>
          </a:xfrm>
          <a:prstGeom prst="roundRect">
            <a:avLst>
              <a:gd name="adj" fmla="val 7142"/>
            </a:avLst>
          </a:prstGeom>
          <a:solidFill>
            <a:srgbClr val="FFF8EB">
              <a:alpha val="100000"/>
            </a:srgbClr>
          </a:solidFill>
          <a:ln w="12700" cap="flat" cmpd="sng">
            <a:solidFill>
              <a:srgbClr val="C9A66B">
                <a:alpha val="60000"/>
              </a:srgbClr>
            </a:solidFill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余额联动支付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定制定金/尾款自动扣款，记录流水到 custom_payment 表</a:t>
            </a:r>
            <a:endParaRPr lang="en-US" sz="1100" b="0" i="0" u="none" strike="noStrike">
              <a:solidFill>
                <a:srgbClr val="A07832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651000"/>
            <a:ext cx="4953000" cy="4699000"/>
          </a:xfrm>
          <a:prstGeom prst="roundRect">
            <a:avLst>
              <a:gd name="adj" fmla="val 216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6495C8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553200" y="18288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28508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内容审核中心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9602">
            <a:off x="6553209" y="2279650"/>
            <a:ext cx="4546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95C8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6553200" y="2438400"/>
            <a:ext cx="1397000" cy="406400"/>
          </a:xfrm>
          <a:prstGeom prst="roundRect">
            <a:avLst>
              <a:gd name="adj" fmla="val 12500"/>
            </a:avLst>
          </a:prstGeom>
          <a:solidFill>
            <a:srgbClr val="28508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none" lIns="50800" tIns="50800" rIns="50800" bIns="5080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非遗展品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026400" y="2438400"/>
            <a:ext cx="1397000" cy="406400"/>
          </a:xfrm>
          <a:prstGeom prst="roundRect">
            <a:avLst>
              <a:gd name="adj" fmla="val 12500"/>
            </a:avLst>
          </a:prstGeom>
          <a:solidFill>
            <a:srgbClr val="F0F4FA">
              <a:alpha val="100000"/>
            </a:srgbClr>
          </a:solidFill>
          <a:ln w="12700" cap="flat" cmpd="sng">
            <a:solidFill>
              <a:srgbClr val="6495C8">
                <a:alpha val="40000"/>
              </a:srgbClr>
            </a:solidFill>
            <a:prstDash val="solid"/>
            <a:round/>
          </a:ln>
        </p:spPr>
        <p:txBody>
          <a:bodyPr vert="horz" wrap="none" lIns="50800" tIns="50800" rIns="50800" bIns="5080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手作教程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9499600" y="2438400"/>
            <a:ext cx="1397000" cy="406400"/>
          </a:xfrm>
          <a:prstGeom prst="roundRect">
            <a:avLst>
              <a:gd name="adj" fmla="val 12500"/>
            </a:avLst>
          </a:prstGeom>
          <a:solidFill>
            <a:srgbClr val="F0F4FA">
              <a:alpha val="100000"/>
            </a:srgbClr>
          </a:solidFill>
          <a:ln w="12700" cap="flat" cmpd="sng">
            <a:solidFill>
              <a:srgbClr val="6495C8">
                <a:alpha val="40000"/>
              </a:srgbClr>
            </a:solidFill>
            <a:prstDash val="solid"/>
            <a:round/>
          </a:ln>
        </p:spPr>
        <p:txBody>
          <a:bodyPr vert="horz" wrap="none" lIns="50800" tIns="50800" rIns="50800" bIns="5080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用户作品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553200" y="3048000"/>
            <a:ext cx="4699000" cy="635000"/>
          </a:xfrm>
          <a:prstGeom prst="roundRect">
            <a:avLst>
              <a:gd name="adj" fmla="val 8000"/>
            </a:avLst>
          </a:prstGeom>
          <a:solidFill>
            <a:srgbClr val="F5F8F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28508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 Tab 统一审核操作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 / 驳回（附理由），驳回后编辑重提自动重置为待审</a:t>
            </a:r>
            <a:endParaRPr lang="en-US" sz="11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553200" y="3759200"/>
            <a:ext cx="4699000" cy="635000"/>
          </a:xfrm>
          <a:prstGeom prst="roundRect">
            <a:avLst>
              <a:gd name="adj" fmla="val 8000"/>
            </a:avLst>
          </a:prstGeom>
          <a:solidFill>
            <a:srgbClr val="F5F8F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28508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公开列表过滤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/work/list、/tutorial/list、/userWork/share 仅展示 auditStatus=1</a:t>
            </a:r>
            <a:endParaRPr lang="en-US" sz="11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553200" y="4470400"/>
            <a:ext cx="4699000" cy="635000"/>
          </a:xfrm>
          <a:prstGeom prst="roundRect">
            <a:avLst>
              <a:gd name="adj" fmla="val 8000"/>
            </a:avLst>
          </a:prstGeom>
          <a:solidFill>
            <a:srgbClr val="F5F8F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28508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未审核内容权限控制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未审核展品仅作者本人或管理员可查看详情</a:t>
            </a:r>
            <a:endParaRPr lang="en-US" sz="1100" b="0" i="0" u="none" strike="noStrike">
              <a:solidFill>
                <a:srgbClr val="46566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553200" y="5181600"/>
            <a:ext cx="4699000" cy="711200"/>
          </a:xfrm>
          <a:prstGeom prst="roundRect">
            <a:avLst>
              <a:gd name="adj" fmla="val 7142"/>
            </a:avLst>
          </a:prstGeom>
          <a:solidFill>
            <a:srgbClr val="28508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52400" tIns="76200" rIns="101600" bIns="5080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管理后台数据概览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C8D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用户/展品/教程数 · 定制申请8状态分布 · 充值统计</a:t>
            </a:r>
            <a:endParaRPr lang="en-US" sz="1100" b="0" i="0" u="none" strike="noStrike">
              <a:solidFill>
                <a:srgbClr val="C8D7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11049000" y="64008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07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核心业务闭环：看 - 学 - 做 - 定制 - 支付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4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016000" y="1651000"/>
          <a:ext cx="10160000" cy="355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143000"/>
                <a:gridCol w="3048000"/>
                <a:gridCol w="3048000"/>
                <a:gridCol w="2921000"/>
              </a:tblGrid>
              <a:tr h="635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环节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普通用户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非遗匠人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系统功能支撑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</a:tr>
              <a:tr h="723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A0783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7F2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浏览分类展品、3D模型旋转查看技艺背景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上传展品图文、3D模型、维护作品库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展品列表、3D预览、图片画廊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23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A0783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7F2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学习图文/视频教程、收藏感兴趣教程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发布图文+视频教程、管理教程内容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AJAX分类加载、视频播放、收藏回显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23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A0783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做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F7F2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上传习作多图/视频、点赞评论交流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评论指导用户作品、展示匠人风采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作品广场、点赞评论、审核通过展示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493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A0783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定制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8E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发起定制申请、沟通需求、支付定金尾款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接单报价、沟通需求、标记制作进度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8状态流转、在线留言、钱包扣款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1016000" y="5461000"/>
            <a:ext cx="10160000" cy="457200"/>
          </a:xfrm>
          <a:prstGeom prst="roundRect">
            <a:avLst>
              <a:gd name="adj" fmla="val 16666"/>
            </a:avLst>
          </a:prstGeom>
          <a:solidFill>
            <a:srgbClr val="0D1B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203200" tIns="50800" rIns="203200" bIns="5080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完整链路：看展品 → 学教程 → 动手做 → 晒作品 → 发起定制 → 钱包支付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1049000" y="64008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08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技术架构与实现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3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8890000" y="711200"/>
            <a:ext cx="2286000" cy="381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SpringBoot + Thymeleaf · B/S 架构</a:t>
            </a:r>
            <a:endParaRPr lang="en-US" sz="110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016000" y="1879600"/>
          <a:ext cx="10160000" cy="355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524000"/>
                <a:gridCol w="3810000"/>
                <a:gridCol w="4826000"/>
              </a:tblGrid>
              <a:tr h="596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层级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实际采用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说明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>
                        <a:alpha val="100000"/>
                      </a:srgbClr>
                    </a:solidFill>
                  </a:tcPr>
                </a:tc>
              </a:tr>
              <a:tr h="596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0D1B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视图层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Thymeleaf + HTML/CSS/JS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服务端渲染页面，公共导航 Fragment 复用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96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0D1B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后端框架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Spring Boot + Spring Data JPA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Session 角色权限控制，业务逻辑分层清晰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96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0D1B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数据库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MySQL 8.0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用户、展品、教程、作品、收藏、点赞、评论、定制等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969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0D1B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版本管理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Gitee + Maven + IDEA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Gitee 托管代码与文档，Maven 依赖管理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0D1B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数据表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 张业务数据表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0" i="0" u="none" strike="noStrike">
                          <a:solidFill>
                            <a:srgbClr val="46566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用户、展品、教程、作品、收藏、点赞、评论、定制</a:t>
                      </a:r>
                      <a:endParaRPr lang="en-US" sz="1100"/>
                    </a:p>
                  </a:txBody>
                  <a:tcPr marL="101600" marR="101600" marT="101600" marB="101600" anchor="t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" name="Connector 6"/>
          <p:cNvCxnSpPr/>
          <p:nvPr/>
        </p:nvCxnSpPr>
        <p:spPr>
          <a:xfrm rot="-4297">
            <a:off x="1016004" y="56832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16000" y="5867400"/>
            <a:ext cx="10414000" cy="4064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采用前后端一体开发模式，6 人各负责一个完整模块的前后端开发与自测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1049000" y="65532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09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457200"/>
            <a:ext cx="10414000" cy="660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项目创新点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4">
            <a:off x="889023" y="12128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889000" y="1498600"/>
            <a:ext cx="2540000" cy="2222500"/>
          </a:xfrm>
          <a:prstGeom prst="roundRect">
            <a:avLst>
              <a:gd name="adj" fmla="val 4571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41400" y="1625600"/>
            <a:ext cx="3048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41400" y="1955800"/>
            <a:ext cx="228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3D 模型在线预览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41400" y="2286000"/>
            <a:ext cx="2286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.glb 三维模型上传与在线旋转查看，突破传统非遗展示仅限图文的局限，让陶瓷器型、木雕纹理立体可视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619500" y="1498600"/>
            <a:ext cx="2540000" cy="2222500"/>
          </a:xfrm>
          <a:prstGeom prst="roundRect">
            <a:avLst>
              <a:gd name="adj" fmla="val 4571"/>
            </a:avLst>
          </a:prstGeom>
          <a:solidFill>
            <a:srgbClr val="FFF8EB">
              <a:alpha val="100000"/>
            </a:srgbClr>
          </a:solidFill>
          <a:ln w="12700" cap="flat" cmpd="sng">
            <a:solidFill>
              <a:srgbClr val="C9A66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771900" y="1625600"/>
            <a:ext cx="3048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771900" y="1955800"/>
            <a:ext cx="228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A078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C2M 定制交易闭环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771900" y="2286000"/>
            <a:ext cx="2286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申请→接单→沟通→报价→定金→制作→尾款→完结，8种状态流转覆盖真实定制全节点，资金闭环不依赖第三方支付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1498600"/>
            <a:ext cx="2540000" cy="2222500"/>
          </a:xfrm>
          <a:prstGeom prst="roundRect">
            <a:avLst>
              <a:gd name="adj" fmla="val 4571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502400" y="1625600"/>
            <a:ext cx="3048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502400" y="1955800"/>
            <a:ext cx="228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独立钱包体系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502400" y="2286000"/>
            <a:ext cx="2286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钱包账户+交易流水，充值审核后到账，定金/尾款自动扣款，收支全量记录，保留完整资金审计链路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9080500" y="1498600"/>
            <a:ext cx="2540000" cy="2222500"/>
          </a:xfrm>
          <a:prstGeom prst="roundRect">
            <a:avLst>
              <a:gd name="adj" fmla="val 4571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9232900" y="1625600"/>
            <a:ext cx="3048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32900" y="1955800"/>
            <a:ext cx="228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视频化手作教程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232900" y="2286000"/>
            <a:ext cx="2286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500MB 大文件视频上传，配合图文内容，将非遗技艺"口传心授"转化为可回放的视频教学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89000" y="3911600"/>
            <a:ext cx="2540000" cy="2222500"/>
          </a:xfrm>
          <a:prstGeom prst="roundRect">
            <a:avLst>
              <a:gd name="adj" fmla="val 4571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1041400" y="4038600"/>
            <a:ext cx="3048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041400" y="4368800"/>
            <a:ext cx="228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三级审核质量管控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041400" y="4699000"/>
            <a:ext cx="2286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展品、教程、作品统一"发布→待审→通过/驳回"流程，驳回附理由可编辑重提，保证内容质量不阻断创作迭代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619500" y="3911600"/>
            <a:ext cx="2540000" cy="2222500"/>
          </a:xfrm>
          <a:prstGeom prst="roundRect">
            <a:avLst>
              <a:gd name="adj" fmla="val 4571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3771900" y="4038600"/>
            <a:ext cx="3048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3771900" y="4368800"/>
            <a:ext cx="228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AJAX 无刷新分类浏览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3771900" y="4699000"/>
            <a:ext cx="2286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fetch 异步请求 + history.pushState URL同步，切换分类时导航栏不刷新，页面刷新保持当前分类状态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350000" y="3911600"/>
            <a:ext cx="2540000" cy="2222500"/>
          </a:xfrm>
          <a:prstGeom prst="roundRect">
            <a:avLst>
              <a:gd name="adj" fmla="val 4571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6502400" y="4038600"/>
            <a:ext cx="3048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02400" y="4368800"/>
            <a:ext cx="228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自研验证码注册安全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6502400" y="4699000"/>
            <a:ext cx="2286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CaptchaUtil 排除易混字符 0/O/1/I/L，存 Session、点击刷新绕缓存、验证后清除，无需第三方服务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080500" y="3911600"/>
            <a:ext cx="2540000" cy="2222500"/>
          </a:xfrm>
          <a:prstGeom prst="roundRect">
            <a:avLst>
              <a:gd name="adj" fmla="val 4571"/>
            </a:avLst>
          </a:prstGeom>
          <a:solidFill>
            <a:srgbClr val="FAF7F2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9232900" y="4038600"/>
            <a:ext cx="3048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9232900" y="4368800"/>
            <a:ext cx="228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统一视觉设计语言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9232900" y="4699000"/>
            <a:ext cx="2286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深棕→中棕→米色渐变体现非遗厚重感，卡片化+毛玻璃+响应式网格，审核页蓝色主题区分功能区域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1049000" y="64008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项目交付物总览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3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00" y="1930400"/>
            <a:ext cx="279400" cy="279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854200" y="1803400"/>
            <a:ext cx="45720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需求分析报告（模板 1）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00" y="2743200"/>
            <a:ext cx="279400" cy="279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854200" y="2616200"/>
            <a:ext cx="45720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SDS 软件设计规格说明书（模板 3）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00" y="3556000"/>
            <a:ext cx="279400" cy="279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854200" y="3429000"/>
            <a:ext cx="45720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软件测试文档（模板 4）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7000" y="4368800"/>
            <a:ext cx="279400" cy="279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854200" y="4241800"/>
            <a:ext cx="45720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小组周工作总结（模板 2）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4000" y="1930400"/>
            <a:ext cx="279400" cy="279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7061200" y="1803400"/>
            <a:ext cx="457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可运行系统（九大模块）</a:t>
            </a:r>
            <a:endParaRPr lang="en-US" sz="1100"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4000" y="2743200"/>
            <a:ext cx="279400" cy="279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061200" y="2616200"/>
            <a:ext cx="45720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Gitee 代码与文档仓库</a:t>
            </a:r>
            <a:endParaRPr lang="en-US" sz="110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4000" y="3556000"/>
            <a:ext cx="279400" cy="279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061200" y="3429000"/>
            <a:ext cx="4572000" cy="508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UML 全套图（手工绘制）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4297">
            <a:off x="1016004" y="5327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1016000" y="5537200"/>
            <a:ext cx="10414000" cy="4572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交付说明：</a:t>
            </a:r>
            <a:r>
              <a:rPr lang="en-US" sz="15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全部交付物已整理提交，代码与文档托管于 Gitee 公开仓库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11049000" y="64008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11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系统用例模型：三类角色，覆盖完整业务闭环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3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11049000" y="65532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11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475064" y="1384300"/>
            <a:ext cx="6432267" cy="5361709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" y="558800"/>
            <a:ext cx="10414000" cy="6604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项目总结与后续展望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24553">
            <a:off x="889023" y="1365250"/>
            <a:ext cx="177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C9A66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1016000" y="1625600"/>
            <a:ext cx="2540000" cy="381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完成情况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6350000" y="1625600"/>
            <a:ext cx="2540000" cy="3810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后续展望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046">
            <a:off x="1016008" y="2025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Connector 7"/>
          <p:cNvCxnSpPr/>
          <p:nvPr/>
        </p:nvCxnSpPr>
        <p:spPr>
          <a:xfrm rot="-9046">
            <a:off x="6350008" y="20256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64748B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" name="Picture 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413000"/>
            <a:ext cx="279400" cy="279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473200" y="2286000"/>
            <a:ext cx="4699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九大业务模块全部开发并联调通过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3073400"/>
            <a:ext cx="279400" cy="279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473200" y="2946400"/>
            <a:ext cx="4699000" cy="558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SDS、测试文档、周总结全套交付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3733800"/>
            <a:ext cx="279400" cy="279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473200" y="3606800"/>
            <a:ext cx="4699000" cy="558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Gitee 代码与文档已最终提交</a:t>
            </a:r>
            <a:endParaRPr lang="en-US" sz="1100"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4394200"/>
            <a:ext cx="279400" cy="279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473200" y="4267200"/>
            <a:ext cx="4699000" cy="6604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三类角色权限、审核流程完整实现</a:t>
            </a:r>
            <a:endParaRPr lang="en-US" sz="110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5130800"/>
            <a:ext cx="279400" cy="279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473200" y="5003800"/>
            <a:ext cx="4699000" cy="558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黑盒测试用例覆盖核心业务流程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350000" y="2286000"/>
            <a:ext cx="355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858000" y="2286000"/>
            <a:ext cx="4318000" cy="558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部署到云服务器，实现外网访问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350000" y="3022600"/>
            <a:ext cx="355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858000" y="3022600"/>
            <a:ext cx="4318000" cy="558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移动端适配与作品推荐功能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350000" y="3759200"/>
            <a:ext cx="355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858000" y="3759200"/>
            <a:ext cx="4318000" cy="558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实时消息沟通替代离线留言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0" y="4495800"/>
            <a:ext cx="355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C9A66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858000" y="4495800"/>
            <a:ext cx="4318000" cy="5588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6566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收集答辩反馈，持续优化体验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rot="-4297">
            <a:off x="1016004" y="58864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9A66B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3048000" y="6070600"/>
            <a:ext cx="6096000" cy="457200"/>
          </a:xfrm>
          <a:prstGeom prst="roundRect">
            <a:avLst>
              <a:gd name="adj" fmla="val 0"/>
            </a:avLst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0D1B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汇报完毕，恳请各位老师批评指正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11049000" y="6553200"/>
            <a:ext cx="508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12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2961</Words>
  <Application>WPS 演示</Application>
  <PresentationFormat/>
  <Paragraphs>410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13</vt:i4>
      </vt:variant>
    </vt:vector>
  </HeadingPairs>
  <TitlesOfParts>
    <vt:vector size="27" baseType="lpstr">
      <vt:lpstr>Arial</vt:lpstr>
      <vt:lpstr>宋体</vt:lpstr>
      <vt:lpstr>Wingdings</vt:lpstr>
      <vt:lpstr>Arial</vt:lpstr>
      <vt:lpstr>Noto Sans SC</vt:lpstr>
      <vt:lpstr>Songti SC</vt:lpstr>
      <vt:lpstr>Segoe Print</vt:lpstr>
      <vt:lpstr>Inter</vt:lpstr>
      <vt:lpstr>微软雅黑</vt:lpstr>
      <vt:lpstr>Arial Unicode MS</vt:lpstr>
      <vt:lpstr>Office 主题​​</vt:lpstr>
      <vt:lpstr>默认主题</vt:lpstr>
      <vt:lpstr>Office 主题​​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WPS_1677931502</cp:lastModifiedBy>
  <cp:revision>1</cp:revision>
  <dcterms:created xsi:type="dcterms:W3CDTF">2026-10-10T06:42:27Z</dcterms:created>
  <dcterms:modified xsi:type="dcterms:W3CDTF">2026-10-10T06:42:27Z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B57B7B1D802B4C53921A3B1038A48760_12</vt:lpwstr>
  </property>
  <property fmtid="{D5CDD505-2E9C-101B-9397-08002B2CF9AE}" pid="3" name="KSOProductBuildVer">
    <vt:lpwstr>2052-12.1.0.29161</vt:lpwstr>
  </property>
</Properties>
</file>