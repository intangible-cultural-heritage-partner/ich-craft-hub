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各位老师好，我们是软工1班第8组。经过五周的开发，我们的非遗手作数字展示与共创平台已经完成全部功能开发与联调。今天的汇报分为课题背景、系统功能、创新点三个部分，用时约5分钟，之后进行系统演示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今天的汇报分为七个部分：首先介绍课题背景和平台定位，然后展示系统六大模块功能，说明技术架构与数据库设计，提炼三个创新点，汇报项目交付成果与团队分工，最后进行现场系统演示。整体讲解约5分钟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非遗手作目前面临四个现实痛点：传承人老龄化、线下展地域受限、匠人缺线上定制渠道、爱好者作品缺分享阵地。针对这些问题，我们搭建了这个B/S架构Web平台，把线上展示、线上学习、定制对接、共创分享四个环节串成完整闭环，让用户从"看"到"学"到"做"再到"分享"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系统共六大模块：核心业务四块是非遗展品展示、手作教程学习、定制需求对接、用户作品共创；互动与管理两块是收藏点赞评论、管理员内容审核；系统基础是用户注册登录与三类角色权限控制。目前六大模块全部开发并联调完成，覆盖普通用户、匠人、管理员三类角色的完整业务流程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平台的核心是一个完整业务闭环：用户先在"看"环节浏览非遗展品，再到"学"环节跟着匠人发布的教程学习，然后在"做与分享"环节上传自己的习作、点赞评论，还可以向匠人发起定制申请。系统在每个环节都提供了对应的功能支撑，从展品浏览、教程学习到作品发布、定制沟通，把单向展示变成了用户参与的共创过程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实际开发中我们采用前后端一体模式：视图层用 Thymeleaf 服务端渲染，配合 HTML/CSS/JS；后端用 Spring Boot 加 Spring Data JPA，通过 Session 实现三类角色权限控制；数据库是 MySQL 8.0，共设计9张业务表，覆盖用户、展品、教程、作品、收藏点赞评论、定制等全部实体；代码和文档托管在 Gitee，用 Maven 管理依赖。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项目有三个核心创新点：第一，把非遗展示和用户共创结合起来，不只是让用户看，还能上传自己的手作作品、点赞评论，形成看-学-做-分享的闭环；第二，把原本私下进行的定制沟通搬到平台上，从用户发起申请、双方留言到订单状态流转，全程线上规范化；第三，建立展品、教程、用户作品三级审核机制，保证内容质量。工程上采用B/S零安装、三类角色Session权限隔离、6人模块化并行开发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五周下来，我们按课程要求交付了全套制品：需求分析报告、SDS软件设计规格说明书、软件测试文档、小组周总结，以及一个六大模块全部联调通过的可运行系统；所有代码和文档都托管在Gitee公开仓库，UML图均为手工绘制。下面请老师看系统演示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这是用例图。系统有三类参与者：管理员、匠人和普通用户。用例覆盖作品展示、教程学习、定制对接、用户分享、审核管理和数据统计，完整对应前面 7 个核心功能。图中用例与参与者关系为示意，后续可替换为小组实际绘制的用例图。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五周课程任务到此全部完成：六大业务模块开发联调通过，全套文档交付，Gitee代码和文档已最终提交，黑盒测试覆盖核心流程。后续我们计划把系统部署到云服务器、做移动端适配和实时消息。我的PPT汇报部分到此结束，接下来进行系统演示，恳请各位老师批评指正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4713B80-CA64-4597-B88F-21FE6F1E92D1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4E43EFA-A321-4139-A4D0-6F256A24716E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B2FE50A-AE23-4CDE-A034-FA8AE0DCEE71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38E26EC-4014-406F-AF7F-EAA5201BEFDF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8A5124B-574D-4843-B4BE-8FA864F2CAA2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439DA4D-A017-4C8C-B3C5-34142221151C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2A7E364-808F-43F4-B937-41FFEDA598AA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5F83710-D674-48C7-A4CD-6E90242C1B66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9A71D99-0A64-4410-9966-191B8E43B74E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54A37FA-27E8-490E-8DB1-6E4BA73EE2BD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DF8A322-949F-4BA8-8E84-0F7D5BDF7E6F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EFA88B5-247C-478A-A20E-4F50D455FDA6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23.xml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image" Target="../media/image11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69">
            <a:off x="889040" y="14922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2082800" y="1295400"/>
            <a:ext cx="3048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课程设计最终答辩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9000" y="1905000"/>
            <a:ext cx="6858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非遗手作数字展示与共创平台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3251200"/>
            <a:ext cx="6858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系统实现 · 功能演示 · 创新总结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322">
            <a:off x="889013" y="40322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89000" y="4318000"/>
            <a:ext cx="6731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8DDE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软件课程设计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8DDE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第8组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8DDE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臧博文、葛子实、田浩池、徐锦泽、杨井源、张洋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8DDE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葛子实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8DDE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2026年10月9日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11088">
            <a:off x="7747010" y="60325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9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-11088">
            <a:off x="7747010" y="548005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9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rcRect l="32" r="33"/>
          <a:stretch>
            <a:fillRect/>
          </a:stretch>
        </p:blipFill>
        <p:spPr>
          <a:xfrm>
            <a:off x="7810500" y="698500"/>
            <a:ext cx="3746500" cy="4686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863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答辩内容概览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4553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" name="Connector 5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1B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" name="Connector 6"/>
          <p:cNvCxnSpPr/>
          <p:nvPr/>
        </p:nvCxnSpPr>
        <p:spPr>
          <a:xfrm rot="-4297">
            <a:off x="1016004" y="2355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6000" y="1778000"/>
          <a:ext cx="10160000" cy="431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572000"/>
                <a:gridCol w="5588000"/>
              </a:tblGrid>
              <a:tr h="584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汇报模块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核心要点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课题背景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非遗手作现状痛点与平台定位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系统功能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六大模块完整实现，覆盖看-学-做-定制闭环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技术架构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SpringBoot + Thymeleaf + MySQL，9张数据表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创新点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展示与共创结合、定制对接闭环、审核质量保障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项目成果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SDS、测试文档、Gitee代码全部交付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团队分工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6人模块并行开发，前后端一体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系统演示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现场演示核心业务流程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8"/>
          <p:cNvCxnSpPr/>
          <p:nvPr/>
        </p:nvCxnSpPr>
        <p:spPr>
          <a:xfrm rot="-4297">
            <a:off x="1016004" y="608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1B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11049000" y="6400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课题背景：非遗手作数字化的现实需求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3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778000"/>
            <a:ext cx="4826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现实痛点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9549">
            <a:off x="1016009" y="22288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350000" y="1778000"/>
            <a:ext cx="4826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平台定位与闭环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6350009" y="22288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5389582">
            <a:off x="3848100" y="3867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463800"/>
            <a:ext cx="482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传承人老龄化，传统技艺后继乏人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352800"/>
            <a:ext cx="482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线下展览地域受限，大众难系统学习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241800"/>
            <a:ext cx="482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匠人缺线上渠道对接定制需求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130800"/>
            <a:ext cx="482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爱好者习作缺公开分享交流阵地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463800"/>
            <a:ext cx="482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线上展示：非遗作品分类结构化展示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3352800"/>
            <a:ext cx="482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线上学习：匠人发布图文与视频教程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241800"/>
            <a:ext cx="4826000" cy="965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定制对接：用户发起申请，双向沟通需求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5257800"/>
            <a:ext cx="4826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共创分享：用户上传作品，点赞评论互动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049000" y="6400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系统功能总览：六大模块全部完成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3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6510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核心业务（4 项）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114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159000"/>
            <a:ext cx="1905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非遗展品展示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2311400"/>
            <a:ext cx="381000" cy="381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127500" y="2159000"/>
            <a:ext cx="1905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手作教程学习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3000" y="2311400"/>
            <a:ext cx="381000" cy="381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731000" y="2159000"/>
            <a:ext cx="1905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定制需求对接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6500" y="23114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334500" y="2159000"/>
            <a:ext cx="1905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用户作品共创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297">
            <a:off x="1016004" y="3117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016000" y="33274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互动与管理（2 项）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9878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3835400"/>
            <a:ext cx="1905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管理员内容审核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19500" y="3987800"/>
            <a:ext cx="381000" cy="381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127500" y="3835400"/>
            <a:ext cx="1905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收藏点赞评论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297">
            <a:off x="1016004" y="479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16000" y="50038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系统基础（1 项）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56388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5486400"/>
            <a:ext cx="2540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注册登录与权限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5562600"/>
            <a:ext cx="482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六大模块全部联调完成，覆盖三类角色业务闭环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1049000" y="6400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核心业务闭环：看 - 学 - 做 - 分享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3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1778000"/>
          <a:ext cx="10160000" cy="241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2413000"/>
                <a:gridCol w="3048000"/>
                <a:gridCol w="2794000"/>
              </a:tblGrid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业务环节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普通用户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非遗匠人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系统功能支撑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看 展品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浏览分类展品、查看技艺背景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上传展品图文、维护作品库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展品列表分页、详情、搜索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学 教程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学习图文/视频教程、收藏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发布教程、管理教程内容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教程详情、收藏状态回显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做 与 分享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上传习作、点赞评论、发起定制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处理定制申请、双向留言沟通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作品广场、定制订单状态流转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Connector 5"/>
          <p:cNvCxnSpPr/>
          <p:nvPr/>
        </p:nvCxnSpPr>
        <p:spPr>
          <a:xfrm rot="-4297">
            <a:off x="1016004" y="418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1B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4648200"/>
            <a:ext cx="203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闭环价值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514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5384800"/>
            <a:ext cx="10414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完整链路：看展品 → 学教程 → 动手做 → 晒作品 → 发起定制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049000" y="6400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技术架构与实现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3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8890000" y="711200"/>
            <a:ext cx="228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SpringBoot + Thymeleaf · B/S 架构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8796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810000"/>
                <a:gridCol w="4826000"/>
              </a:tblGrid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层级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实际采用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视图层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Thymeleaf + HTML/CSS/JS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服务端渲染页面，公共导航 Fragment 复用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后端框架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Spring Boot + Spring Data JPA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Session 角色权限控制，业务逻辑分层清晰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数据库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MySQL 8.0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用户、展品、教程、作品、收藏、点赞、评论、定制等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版本管理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Gitee + Maven + IDEA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Gitee 托管代码与文档，Maven 依赖管理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 张业务数据表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用户、展品、教程、作品、收藏、点赞、评论、定制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Connector 6"/>
          <p:cNvCxnSpPr/>
          <p:nvPr/>
        </p:nvCxnSpPr>
        <p:spPr>
          <a:xfrm rot="-4297">
            <a:off x="1016004" y="5683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5867400"/>
            <a:ext cx="1041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采用前后端一体开发模式，6 人各负责一个完整模块的前后端开发与自测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项目创新点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3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6256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三大特色创新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9046">
            <a:off x="1016008" y="202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2860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473200" y="2235200"/>
            <a:ext cx="444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展示与共创结合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73200" y="2590800"/>
            <a:ext cx="4445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打破非遗平台"只看不能参与"的局限，用户可上传作品、点赞评论，形成看-学-做闭环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3528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73200" y="3302000"/>
            <a:ext cx="444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定制对接闭环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473200" y="3657600"/>
            <a:ext cx="4445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将私下定制沟通规范化到平台内：用户发起申请、双方留言、订单状态全流程线上流转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4196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73200" y="4368800"/>
            <a:ext cx="444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三级审核质量保障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473200" y="4724400"/>
            <a:ext cx="4445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展品、教程、用户作品三类内容均需管理员审核通过后展示，保证内容合规与非遗信息准确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6256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工程亮点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046">
            <a:off x="6350008" y="202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350000" y="2286000"/>
            <a:ext cx="48260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553200" y="2387600"/>
            <a:ext cx="444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B/S 零安装部署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53200" y="2692400"/>
            <a:ext cx="444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浏览器直接访问，无需安装客户端，匠人管理员登录对应后台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3251200"/>
            <a:ext cx="48260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53200" y="3352800"/>
            <a:ext cx="444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三类角色权限隔离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53200" y="3657600"/>
            <a:ext cx="444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普通用户/匠人/管理员 Session 权限控制，未登录跳转、越权访问拦截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4216400"/>
            <a:ext cx="48260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553200" y="4318000"/>
            <a:ext cx="444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模块化并行开发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53200" y="4622800"/>
            <a:ext cx="444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6人各负责一个完整模块前后端，Gitee 版本管理，按周迭代联调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4297">
            <a:off x="1016004" y="5429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1016000" y="5638800"/>
            <a:ext cx="10414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核心价值：从"单向展示"走向"大众参与共创"，实现非遗手作文化数字化传播闭环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项目交付物总览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3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7000" y="1930400"/>
            <a:ext cx="279400" cy="279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854200" y="18034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需求分析报告（模板 1）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7000" y="27432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54200" y="26162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SDS 软件设计规格说明书（模板 3）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7000" y="35560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854200" y="34290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软件测试文档（模板 4）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7000" y="43688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54200" y="42418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小组周工作总结（模板 2）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000" y="19304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61200" y="18034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可运行系统（六大模块）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000" y="27432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061200" y="26162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Gitee 代码与文档仓库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000" y="35560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61200" y="34290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 全套图（手工绘制）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016000" y="5537200"/>
            <a:ext cx="10414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交付说明：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全部交付物已整理提交，代码与文档托管于 Gitee 公开仓库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049000" y="6400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系统用例模型：三类角色，覆盖完整业务闭环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3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75064" y="1384300"/>
            <a:ext cx="6432267" cy="5361709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项目总结与后续展望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3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6256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完成情况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6256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后续展望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1016008" y="202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-9046">
            <a:off x="6350008" y="202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4130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73200" y="2286000"/>
            <a:ext cx="4699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六大业务模块全部开发并联调通过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0734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73200" y="2946400"/>
            <a:ext cx="4699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SDS、测试文档、周总结全套交付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7338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73200" y="3606800"/>
            <a:ext cx="4699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Gitee 代码与文档已最终提交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3942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73200" y="4267200"/>
            <a:ext cx="4699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三类角色权限、审核流程完整实现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51308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73200" y="5003800"/>
            <a:ext cx="4699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黑盒测试用例覆盖核心业务流程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2860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858000" y="2286000"/>
            <a:ext cx="4318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部署到云服务器，实现外网访问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30226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858000" y="3022600"/>
            <a:ext cx="4318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移动端适配与作品推荐功能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37592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58000" y="3759200"/>
            <a:ext cx="4318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实时消息沟通替代离线留言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44958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858000" y="4495800"/>
            <a:ext cx="4318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收集答辩反馈，持续优化体验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4297">
            <a:off x="1016004" y="5886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3048000" y="6070600"/>
            <a:ext cx="6096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汇报完毕，恳请各位老师批评指正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1723</Words>
  <Application>WPS 演示</Application>
  <PresentationFormat/>
  <Paragraphs>282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Songti SC</vt:lpstr>
      <vt:lpstr>Segoe Print</vt:lpstr>
      <vt:lpstr>Inter</vt:lpstr>
      <vt:lpstr>微软雅黑</vt:lpstr>
      <vt:lpstr>Arial Unicode MS</vt:lpstr>
      <vt:lpstr>Office 主题​​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WPS_1677931502</cp:lastModifiedBy>
  <cp:revision>1</cp:revision>
  <dcterms:created xsi:type="dcterms:W3CDTF">2026-10-09T15:43:02Z</dcterms:created>
  <dcterms:modified xsi:type="dcterms:W3CDTF">2026-10-09T15:43:02Z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{"Label":"1","ContentProducer":"001191110102MACQD9K64010000","ProduceID":"7694692916652280791","ReservedCode1":"","ContentPropagator":"","PropagateID":"","ReservedCode2":""}</vt:lpwstr>
  </property>
  <property fmtid="{D5CDD505-2E9C-101B-9397-08002B2CF9AE}" pid="3" name="KSOProductBuildVer">
    <vt:lpwstr>2052-12.1.0.29161</vt:lpwstr>
  </property>
  <property fmtid="{D5CDD505-2E9C-101B-9397-08002B2CF9AE}" pid="4" name="ICV">
    <vt:lpwstr>EF1F0DC08F9B4C4DBEEF90DFF4DC9260_12</vt:lpwstr>
  </property>
</Properties>
</file>